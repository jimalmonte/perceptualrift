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</p:sldIdLst>
  <p:sldSz cx="32918400" cy="43891200"/>
  <p:notesSz cx="6858000" cy="9144000"/>
  <p:defaultTextStyle>
    <a:defPPr>
      <a:defRPr lang="en-US"/>
    </a:defPPr>
    <a:lvl1pPr marL="0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1pPr>
    <a:lvl2pPr marL="1843430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2pPr>
    <a:lvl3pPr marL="3686861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3pPr>
    <a:lvl4pPr marL="5530291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4pPr>
    <a:lvl5pPr marL="737372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5pPr>
    <a:lvl6pPr marL="921715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6pPr>
    <a:lvl7pPr marL="1106058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7pPr>
    <a:lvl8pPr marL="12904013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8pPr>
    <a:lvl9pPr marL="14747443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0334"/>
    <a:srgbClr val="4F2171"/>
    <a:srgbClr val="441D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D806B4-9F47-40AB-9C55-77790E060F2F}" v="3" dt="2024-11-12T17:56:15.1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30" d="100"/>
          <a:sy n="30" d="100"/>
        </p:scale>
        <p:origin x="1752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7183123"/>
            <a:ext cx="27980640" cy="15280640"/>
          </a:xfrm>
        </p:spPr>
        <p:txBody>
          <a:bodyPr anchor="b"/>
          <a:lstStyle>
            <a:lvl1pPr algn="ctr"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23053043"/>
            <a:ext cx="24688800" cy="10596877"/>
          </a:xfrm>
        </p:spPr>
        <p:txBody>
          <a:bodyPr/>
          <a:lstStyle>
            <a:lvl1pPr marL="0" indent="0" algn="ctr">
              <a:buNone/>
              <a:defRPr sz="8640"/>
            </a:lvl1pPr>
            <a:lvl2pPr marL="1645920" indent="0" algn="ctr">
              <a:buNone/>
              <a:defRPr sz="7200"/>
            </a:lvl2pPr>
            <a:lvl3pPr marL="3291840" indent="0" algn="ctr">
              <a:buNone/>
              <a:defRPr sz="6480"/>
            </a:lvl3pPr>
            <a:lvl4pPr marL="4937760" indent="0" algn="ctr">
              <a:buNone/>
              <a:defRPr sz="5760"/>
            </a:lvl4pPr>
            <a:lvl5pPr marL="6583680" indent="0" algn="ctr">
              <a:buNone/>
              <a:defRPr sz="5760"/>
            </a:lvl5pPr>
            <a:lvl6pPr marL="8229600" indent="0" algn="ctr">
              <a:buNone/>
              <a:defRPr sz="5760"/>
            </a:lvl6pPr>
            <a:lvl7pPr marL="9875520" indent="0" algn="ctr">
              <a:buNone/>
              <a:defRPr sz="5760"/>
            </a:lvl7pPr>
            <a:lvl8pPr marL="11521440" indent="0" algn="ctr">
              <a:buNone/>
              <a:defRPr sz="5760"/>
            </a:lvl8pPr>
            <a:lvl9pPr marL="13167360" indent="0" algn="ctr">
              <a:buNone/>
              <a:defRPr sz="5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73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93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10942333"/>
            <a:ext cx="28392120" cy="18257517"/>
          </a:xfrm>
        </p:spPr>
        <p:txBody>
          <a:bodyPr anchor="b"/>
          <a:lstStyle>
            <a:lvl1pPr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29372573"/>
            <a:ext cx="28392120" cy="9601197"/>
          </a:xfrm>
        </p:spPr>
        <p:txBody>
          <a:bodyPr/>
          <a:lstStyle>
            <a:lvl1pPr marL="0" indent="0">
              <a:buNone/>
              <a:defRPr sz="8640">
                <a:solidFill>
                  <a:schemeClr val="tx1"/>
                </a:solidFill>
              </a:defRPr>
            </a:lvl1pPr>
            <a:lvl2pPr marL="164592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2pPr>
            <a:lvl3pPr marL="3291840" indent="0">
              <a:buNone/>
              <a:defRPr sz="6480">
                <a:solidFill>
                  <a:schemeClr val="tx1">
                    <a:tint val="75000"/>
                  </a:schemeClr>
                </a:solidFill>
              </a:defRPr>
            </a:lvl3pPr>
            <a:lvl4pPr marL="49377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4pPr>
            <a:lvl5pPr marL="65836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5pPr>
            <a:lvl6pPr marL="822960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6pPr>
            <a:lvl7pPr marL="987552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7pPr>
            <a:lvl8pPr marL="1152144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8pPr>
            <a:lvl9pPr marL="131673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259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11684000"/>
            <a:ext cx="13990320" cy="27848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11684000"/>
            <a:ext cx="13990320" cy="27848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279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336810"/>
            <a:ext cx="28392120" cy="848360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10759443"/>
            <a:ext cx="13926024" cy="5273037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16032480"/>
            <a:ext cx="13926024" cy="2358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10759443"/>
            <a:ext cx="13994608" cy="5273037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16032480"/>
            <a:ext cx="13994608" cy="2358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852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003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706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926080"/>
            <a:ext cx="10617041" cy="1024128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6319530"/>
            <a:ext cx="16664940" cy="31191200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13167360"/>
            <a:ext cx="10617041" cy="24394163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831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926080"/>
            <a:ext cx="10617041" cy="1024128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6319530"/>
            <a:ext cx="16664940" cy="31191200"/>
          </a:xfrm>
        </p:spPr>
        <p:txBody>
          <a:bodyPr anchor="t"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13167360"/>
            <a:ext cx="10617041" cy="24394163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305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891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2336800"/>
            <a:ext cx="7098030" cy="37195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2336800"/>
            <a:ext cx="20882610" cy="37195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421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2336810"/>
            <a:ext cx="28392120" cy="8483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11684000"/>
            <a:ext cx="28392120" cy="2784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B11913-F300-43E2-BF3B-5FB217FBE680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290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/>
          </p:cNvSpPr>
          <p:nvPr/>
        </p:nvSpPr>
        <p:spPr>
          <a:xfrm>
            <a:off x="1" y="-9"/>
            <a:ext cx="32918399" cy="6240024"/>
          </a:xfrm>
          <a:prstGeom prst="rect">
            <a:avLst/>
          </a:prstGeom>
          <a:solidFill>
            <a:srgbClr val="280334"/>
          </a:solidFill>
        </p:spPr>
        <p:txBody>
          <a:bodyPr wrap="square" rtlCol="0" anchor="ctr">
            <a:normAutofit/>
          </a:bodyPr>
          <a:lstStyle/>
          <a:p>
            <a:pPr algn="ctr">
              <a:defRPr sz="3600" b="1"/>
            </a:pPr>
            <a:r>
              <a:rPr lang="en-US" sz="9600" dirty="0">
                <a:solidFill>
                  <a:schemeClr val="bg1"/>
                </a:solidFill>
              </a:rPr>
              <a:t>Perceptual Rift: A Perspective-Based Optical Illusion Puzzle Game</a:t>
            </a:r>
          </a:p>
          <a:p>
            <a:pPr algn="ctr"/>
            <a:r>
              <a:rPr lang="en-US" sz="7200" dirty="0">
                <a:solidFill>
                  <a:schemeClr val="bg1"/>
                </a:solidFill>
              </a:rPr>
              <a:t>Jim Almonte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9653" y="9505817"/>
            <a:ext cx="28018074" cy="13080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800" b="1"/>
            </a:pPr>
            <a:r>
              <a:rPr lang="en-US" sz="6000" dirty="0"/>
              <a:t>Project Description</a:t>
            </a:r>
          </a:p>
          <a:p>
            <a:pPr>
              <a:defRPr sz="1200"/>
            </a:pPr>
            <a:r>
              <a:rPr lang="en-US" sz="4400" dirty="0"/>
              <a:t>Perceptual Rift is a single-player puzzle game built in Unreal Engine 5.6 that challenges players to solve perspective-based optical illusion puzzles. Players align illusion elements from a specific viewpoint. When alignment is held, illusion blocks disappear and a solid bridge is revealed.</a:t>
            </a:r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pPr>
              <a:defRPr sz="1800" b="1"/>
            </a:pPr>
            <a:r>
              <a:rPr lang="en-US" sz="6000" dirty="0"/>
              <a:t>Project Justification</a:t>
            </a:r>
          </a:p>
          <a:p>
            <a:pPr>
              <a:defRPr sz="1200"/>
            </a:pPr>
            <a:r>
              <a:rPr lang="en-US" sz="4400" dirty="0"/>
              <a:t>Perspective-based mechanics provide strong cognitive engagement but are rarely explored in modern games. This project demonstrates how visual perception concepts can be implemented using structured software engineering practices.</a:t>
            </a:r>
          </a:p>
          <a:p>
            <a:endParaRPr lang="en-US" sz="3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2C354B-5570-E4E3-B400-F36CB4050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4437" y="38662276"/>
            <a:ext cx="5228924" cy="522892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B872F34-E879-009B-BBB3-963AC071913F}"/>
              </a:ext>
            </a:extLst>
          </p:cNvPr>
          <p:cNvSpPr/>
          <p:nvPr/>
        </p:nvSpPr>
        <p:spPr>
          <a:xfrm>
            <a:off x="2902403" y="6531429"/>
            <a:ext cx="27113593" cy="2857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 lang="en-US" sz="6000" b="1" dirty="0">
                <a:solidFill>
                  <a:schemeClr val="tx1"/>
                </a:solidFill>
              </a:rPr>
              <a:t>Project Description</a:t>
            </a:r>
          </a:p>
          <a:p>
            <a:pPr>
              <a:defRPr sz="1200"/>
            </a:pPr>
            <a:r>
              <a:rPr lang="en-US" sz="3600" dirty="0">
                <a:solidFill>
                  <a:schemeClr val="tx1"/>
                </a:solidFill>
              </a:rPr>
              <a:t>Perceptual Rift is a single-player puzzle game built in Unreal Engine 5.6 that challenges players to solve perspective-based optical illusion puzzles. Players align illusion elements from a specific viewpoint. When alignment is held, illusion blocks disappear and a solid bridge is revealed.</a:t>
            </a:r>
          </a:p>
        </p:txBody>
      </p:sp>
      <p:pic>
        <p:nvPicPr>
          <p:cNvPr id="6" name="Picture 5" descr="A white tile floor with a blue sky and clouds&#10;&#10;AI-generated content may be incorrect.">
            <a:extLst>
              <a:ext uri="{FF2B5EF4-FFF2-40B4-BE49-F238E27FC236}">
                <a16:creationId xmlns:a16="http://schemas.microsoft.com/office/drawing/2014/main" id="{81178E50-1216-82F4-97FA-1AAE0DEBFB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8888" y="13655684"/>
            <a:ext cx="10720622" cy="51632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2AD5F91-ABBF-3187-5025-00452F1BFFD5}"/>
              </a:ext>
            </a:extLst>
          </p:cNvPr>
          <p:cNvSpPr txBox="1"/>
          <p:nvPr/>
        </p:nvSpPr>
        <p:spPr>
          <a:xfrm>
            <a:off x="14243930" y="25421525"/>
            <a:ext cx="4629520" cy="6432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rPr lang="en-US" sz="6000" b="1" dirty="0"/>
              <a:t>Core Features</a:t>
            </a:r>
          </a:p>
          <a:p>
            <a:pPr>
              <a:defRPr sz="1200"/>
            </a:pPr>
            <a:r>
              <a:rPr lang="en-US" sz="4400" dirty="0"/>
              <a:t>- Perspective-based alignment puzzles</a:t>
            </a:r>
            <a:br>
              <a:rPr lang="en-US" sz="4400" dirty="0"/>
            </a:br>
            <a:r>
              <a:rPr lang="en-US" sz="4400" dirty="0"/>
              <a:t>- Stable-hold solve confirmation</a:t>
            </a:r>
            <a:br>
              <a:rPr lang="en-US" sz="4400" dirty="0"/>
            </a:br>
            <a:r>
              <a:rPr lang="en-US" sz="4400" dirty="0"/>
              <a:t>- Dynamic bridge reveal</a:t>
            </a:r>
            <a:br>
              <a:rPr lang="en-US" sz="4400" dirty="0"/>
            </a:br>
            <a:r>
              <a:rPr lang="en-US" sz="4400" dirty="0"/>
              <a:t>- Collision-safe traversal</a:t>
            </a:r>
          </a:p>
        </p:txBody>
      </p:sp>
      <p:pic>
        <p:nvPicPr>
          <p:cNvPr id="10" name="Picture 9" descr="A white and blue surface with a blue sky and clouds&#10;&#10;AI-generated content may be incorrect.">
            <a:extLst>
              <a:ext uri="{FF2B5EF4-FFF2-40B4-BE49-F238E27FC236}">
                <a16:creationId xmlns:a16="http://schemas.microsoft.com/office/drawing/2014/main" id="{D266715F-7BFA-3541-1CC5-D2C94352D6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41770" y="23145852"/>
            <a:ext cx="10574226" cy="5210902"/>
          </a:xfrm>
          <a:prstGeom prst="rect">
            <a:avLst/>
          </a:prstGeom>
        </p:spPr>
      </p:pic>
      <p:pic>
        <p:nvPicPr>
          <p:cNvPr id="12" name="Picture 11" descr="A blue and white sky with clouds&#10;&#10;AI-generated content may be incorrect.">
            <a:extLst>
              <a:ext uri="{FF2B5EF4-FFF2-40B4-BE49-F238E27FC236}">
                <a16:creationId xmlns:a16="http://schemas.microsoft.com/office/drawing/2014/main" id="{3D1E8B9D-1EBE-A623-5825-C78D2F457F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2403" y="23145852"/>
            <a:ext cx="10459910" cy="52109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F858B3C-BA0A-4998-AEE3-421AC995CCDF}"/>
              </a:ext>
            </a:extLst>
          </p:cNvPr>
          <p:cNvSpPr txBox="1"/>
          <p:nvPr/>
        </p:nvSpPr>
        <p:spPr>
          <a:xfrm>
            <a:off x="5124463" y="22020037"/>
            <a:ext cx="6015789" cy="1209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 Solving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E2E988-B0C0-105B-EEE6-4360A322F44E}"/>
              </a:ext>
            </a:extLst>
          </p:cNvPr>
          <p:cNvSpPr txBox="1"/>
          <p:nvPr/>
        </p:nvSpPr>
        <p:spPr>
          <a:xfrm>
            <a:off x="22162527" y="21942777"/>
            <a:ext cx="5132712" cy="1209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After Solving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2273BE-E683-F5DA-799B-4BF7CCFC0F25}"/>
              </a:ext>
            </a:extLst>
          </p:cNvPr>
          <p:cNvSpPr txBox="1"/>
          <p:nvPr/>
        </p:nvSpPr>
        <p:spPr>
          <a:xfrm>
            <a:off x="2699877" y="34640695"/>
            <a:ext cx="5375323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rPr lang="en-US" sz="6000" dirty="0"/>
              <a:t>Technologies Used</a:t>
            </a:r>
          </a:p>
          <a:p>
            <a:pPr>
              <a:defRPr sz="1200"/>
            </a:pPr>
            <a:r>
              <a:rPr lang="en-US" sz="4400" dirty="0"/>
              <a:t>Unreal Engine 5.6</a:t>
            </a:r>
            <a:br>
              <a:rPr lang="en-US" sz="4400" dirty="0"/>
            </a:br>
            <a:r>
              <a:rPr lang="en-US" sz="4400" dirty="0"/>
              <a:t>Blueprint Visual Scripting</a:t>
            </a:r>
            <a:br>
              <a:rPr lang="en-US" sz="4400" dirty="0"/>
            </a:br>
            <a:r>
              <a:rPr lang="en-US" sz="4400" dirty="0"/>
              <a:t>Windows PC Development</a:t>
            </a:r>
          </a:p>
        </p:txBody>
      </p:sp>
      <p:pic>
        <p:nvPicPr>
          <p:cNvPr id="22" name="Picture 2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DC90ECA-5F47-8E61-CA2F-33B827C6D6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5595" y="34911537"/>
            <a:ext cx="10574226" cy="599206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B7E596C-7183-FC47-4F19-625111B2B551}"/>
              </a:ext>
            </a:extLst>
          </p:cNvPr>
          <p:cNvSpPr txBox="1"/>
          <p:nvPr/>
        </p:nvSpPr>
        <p:spPr>
          <a:xfrm>
            <a:off x="7055595" y="41054350"/>
            <a:ext cx="46133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BP_IllusionGroup</a:t>
            </a:r>
            <a:r>
              <a:rPr lang="en-US" sz="2800" dirty="0"/>
              <a:t> Logic</a:t>
            </a:r>
          </a:p>
        </p:txBody>
      </p:sp>
      <p:pic>
        <p:nvPicPr>
          <p:cNvPr id="25" name="Picture 24" descr="A profile of a person's head&#10;&#10;AI-generated content may be incorrect.">
            <a:extLst>
              <a:ext uri="{FF2B5EF4-FFF2-40B4-BE49-F238E27FC236}">
                <a16:creationId xmlns:a16="http://schemas.microsoft.com/office/drawing/2014/main" id="{58726049-1560-6C19-A8BF-CEA6D4922E3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2403" y="28916285"/>
            <a:ext cx="10564699" cy="5163271"/>
          </a:xfrm>
          <a:prstGeom prst="rect">
            <a:avLst/>
          </a:prstGeom>
        </p:spPr>
      </p:pic>
      <p:pic>
        <p:nvPicPr>
          <p:cNvPr id="27" name="Picture 26" descr="A white rectangular object with text on it&#10;&#10;AI-generated content may be incorrect.">
            <a:extLst>
              <a:ext uri="{FF2B5EF4-FFF2-40B4-BE49-F238E27FC236}">
                <a16:creationId xmlns:a16="http://schemas.microsoft.com/office/drawing/2014/main" id="{AD87CF05-06A1-D1BB-998F-2F15FCFC0D0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51300" y="28855943"/>
            <a:ext cx="10507541" cy="518232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E9E7319A-04C6-101C-C2A7-849C016FC7FE}"/>
              </a:ext>
            </a:extLst>
          </p:cNvPr>
          <p:cNvSpPr txBox="1"/>
          <p:nvPr/>
        </p:nvSpPr>
        <p:spPr>
          <a:xfrm>
            <a:off x="6349280" y="34237565"/>
            <a:ext cx="35661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Main Menu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92E7D1-91EF-F7AC-0FB0-71D7257AEDBB}"/>
              </a:ext>
            </a:extLst>
          </p:cNvPr>
          <p:cNvSpPr txBox="1"/>
          <p:nvPr/>
        </p:nvSpPr>
        <p:spPr>
          <a:xfrm>
            <a:off x="19451300" y="34237565"/>
            <a:ext cx="35661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Pause Menu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24772D-023C-CE79-0FD7-ED71EDC8E5FE}"/>
              </a:ext>
            </a:extLst>
          </p:cNvPr>
          <p:cNvSpPr txBox="1"/>
          <p:nvPr/>
        </p:nvSpPr>
        <p:spPr>
          <a:xfrm>
            <a:off x="17880539" y="34911537"/>
            <a:ext cx="614015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rPr lang="en-US" sz="6000" dirty="0"/>
              <a:t>Design Process</a:t>
            </a:r>
          </a:p>
          <a:p>
            <a:pPr>
              <a:defRPr sz="1200"/>
            </a:pPr>
            <a:r>
              <a:rPr lang="en-US" sz="4400" dirty="0"/>
              <a:t>Requirements Definition</a:t>
            </a:r>
            <a:br>
              <a:rPr lang="en-US" sz="4400" dirty="0"/>
            </a:br>
            <a:r>
              <a:rPr lang="en-US" sz="4400" dirty="0"/>
              <a:t>System Design</a:t>
            </a:r>
            <a:br>
              <a:rPr lang="en-US" sz="4400" dirty="0"/>
            </a:br>
            <a:r>
              <a:rPr lang="en-US" sz="4400" dirty="0"/>
              <a:t>Implementation</a:t>
            </a:r>
            <a:br>
              <a:rPr lang="en-US" sz="4400" dirty="0"/>
            </a:br>
            <a:r>
              <a:rPr lang="en-US" sz="4400" dirty="0"/>
              <a:t>Testing and Validation</a:t>
            </a:r>
            <a:br>
              <a:rPr lang="en-US" sz="4400" dirty="0"/>
            </a:br>
            <a:r>
              <a:rPr lang="en-US" sz="4400" dirty="0"/>
              <a:t>Iteration and Refinement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4BCE120-DF8F-593D-59DD-84B8404A7F33}"/>
              </a:ext>
            </a:extLst>
          </p:cNvPr>
          <p:cNvSpPr txBox="1"/>
          <p:nvPr/>
        </p:nvSpPr>
        <p:spPr>
          <a:xfrm>
            <a:off x="24036483" y="34760785"/>
            <a:ext cx="653124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rPr lang="en-US" sz="6000" dirty="0"/>
              <a:t>Testing Summary</a:t>
            </a:r>
          </a:p>
          <a:p>
            <a:pPr>
              <a:defRPr sz="1200"/>
            </a:pPr>
            <a:r>
              <a:rPr lang="en-US" sz="4400" dirty="0"/>
              <a:t>Component, unit, requirements, and system testing were executed. All implemented features passed required test cases with no blocking defects.</a:t>
            </a:r>
          </a:p>
        </p:txBody>
      </p:sp>
    </p:spTree>
    <p:extLst>
      <p:ext uri="{BB962C8B-B14F-4D97-AF65-F5344CB8AC3E}">
        <p14:creationId xmlns:p14="http://schemas.microsoft.com/office/powerpoint/2010/main" val="3523442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37d47695-dda2-48a2-87bc-2a1f7ac7fedc" xsi:nil="true"/>
    <lcf76f155ced4ddcb4097134ff3c332f xmlns="b457ba54-12e9-41a3-ab87-ffd5bc645430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1D7BF13958C64483E7E107A08507EA" ma:contentTypeVersion="3706" ma:contentTypeDescription="Create a new document." ma:contentTypeScope="" ma:versionID="27b9d429859bcb4cc95ca5b147d3168a">
  <xsd:schema xmlns:xsd="http://www.w3.org/2001/XMLSchema" xmlns:xs="http://www.w3.org/2001/XMLSchema" xmlns:p="http://schemas.microsoft.com/office/2006/metadata/properties" xmlns:ns1="http://schemas.microsoft.com/sharepoint/v3" xmlns:ns2="b457ba54-12e9-41a3-ab87-ffd5bc645430" xmlns:ns3="37d47695-dda2-48a2-87bc-2a1f7ac7fedc" targetNamespace="http://schemas.microsoft.com/office/2006/metadata/properties" ma:root="true" ma:fieldsID="1c82921937d1af28a735bf3437c860b8" ns1:_="" ns2:_="" ns3:_="">
    <xsd:import namespace="http://schemas.microsoft.com/sharepoint/v3"/>
    <xsd:import namespace="b457ba54-12e9-41a3-ab87-ffd5bc645430"/>
    <xsd:import namespace="37d47695-dda2-48a2-87bc-2a1f7ac7fe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57ba54-12e9-41a3-ab87-ffd5bc6454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6f79346d-4f46-4bf1-b4df-486c6d391f3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d47695-dda2-48a2-87bc-2a1f7ac7fedc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ebea8f4f-161d-469c-9cf2-f7071433846c}" ma:internalName="TaxCatchAll" ma:showField="CatchAllData" ma:web="37d47695-dda2-48a2-87bc-2a1f7ac7fed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B8E3D21-E603-4A1B-A79A-45A8E27A4A0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68CC34E-46EA-4D24-8732-7729D15FAD84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b3b59848-949a-4ed4-8036-feb011ce2b52"/>
    <ds:schemaRef ds:uri="http://purl.org/dc/elements/1.1/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37d47695-dda2-48a2-87bc-2a1f7ac7fedc"/>
    <ds:schemaRef ds:uri="http://www.w3.org/XML/1998/namespace"/>
    <ds:schemaRef ds:uri="b457ba54-12e9-41a3-ab87-ffd5bc645430"/>
  </ds:schemaRefs>
</ds:datastoreItem>
</file>

<file path=customXml/itemProps3.xml><?xml version="1.0" encoding="utf-8"?>
<ds:datastoreItem xmlns:ds="http://schemas.openxmlformats.org/officeDocument/2006/customXml" ds:itemID="{078B2000-F3EA-407A-BB9E-2050E5F2FB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457ba54-12e9-41a3-ab87-ffd5bc645430"/>
    <ds:schemaRef ds:uri="37d47695-dda2-48a2-87bc-2a1f7ac7fed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1716</TotalTime>
  <Words>227</Words>
  <Application>Microsoft Office PowerPoint</Application>
  <PresentationFormat>Custom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Grand Canyon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 Valla</dc:creator>
  <cp:lastModifiedBy>Jim Almonte</cp:lastModifiedBy>
  <cp:revision>9</cp:revision>
  <dcterms:created xsi:type="dcterms:W3CDTF">2018-09-14T20:10:55Z</dcterms:created>
  <dcterms:modified xsi:type="dcterms:W3CDTF">2025-12-21T02:23:44Z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0x010100911D7BF13958C64483E7E107A08507EA</vt:lpwstr>
  </property>
  <property fmtid="{D5CDD505-2E9C-101B-9397-08002B2CF9AE}" pid="3" name="MediaServiceImageTags">
    <vt:lpwstr/>
  </property>
</Properties>
</file>